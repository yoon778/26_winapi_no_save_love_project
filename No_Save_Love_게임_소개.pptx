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80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78bbd5097dca4e18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850bff303da6419a" Type="http://schemas.openxmlformats.org/officeDocument/2006/relationships/slideLayout" Target="../slideLayouts/slideLayout1.xml"  /><Relationship Id="Rb3851b3c5290442d" Type="http://schemas.openxmlformats.org/officeDocument/2006/relationships/theme" Target="../theme/theme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0bff303da641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10.png"  /><Relationship Id="rId11" Type="http://schemas.openxmlformats.org/officeDocument/2006/relationships/image" Target="../media/image11.png"  /><Relationship Id="rId12" Type="http://schemas.openxmlformats.org/officeDocument/2006/relationships/image" Target="../media/image12.png"  /><Relationship Id="rId13" Type="http://schemas.openxmlformats.org/officeDocument/2006/relationships/image" Target="../media/image13.png"  /><Relationship Id="rId14" Type="http://schemas.openxmlformats.org/officeDocument/2006/relationships/image" Target="../media/image14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Relationship Id="rId8" Type="http://schemas.openxmlformats.org/officeDocument/2006/relationships/image" Target="../media/image10.png"  /><Relationship Id="rId9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5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>
            <a:picLocks noChangeAspect="1"/>
          </p:cNvPicPr>
          <p:nvPr/>
        </p:nvPicPr>
        <p:blipFill rotWithShape="1">
          <a:blip r:embed="rId3"/>
          <a:srcRect t="30" b="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4762500" y="0"/>
            <a:ext cx="47625" cy="6858000"/>
          </a:xfrm>
          <a:prstGeom prst="rect">
            <a:avLst/>
          </a:prstGeom>
          <a:solidFill>
            <a:srgbClr val="f062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09600" y="5238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b7c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b7cf"/>
                </a:solidFill>
                <a:latin typeface="Noto Sans KR"/>
                <a:ea typeface="Noto Sans KR"/>
                <a:cs typeface="Noto Sans KR"/>
              </a:rPr>
              <a:t>WINAPI GAME PROJECT</a:t>
            </a:r>
            <a:endParaRPr sz="1050" b="1">
              <a:solidFill>
                <a:srgbClr val="ffb7cf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2450" y="1114425"/>
            <a:ext cx="3714750" cy="1238250"/>
          </a:xfrm>
          <a:prstGeom prst="rect">
            <a:avLst/>
          </a:prstGeom>
        </p:spPr>
      </p:pic>
      <p:sp>
        <p:nvSpPr>
          <p:cNvPr id="6" name="cover-title"/>
          <p:cNvSpPr>
            <a:spLocks noGrp="1"/>
          </p:cNvSpPr>
          <p:nvPr/>
        </p:nvSpPr>
        <p:spPr>
          <a:xfrm>
            <a:off x="590550" y="2724150"/>
            <a:ext cx="371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4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 Save Love</a:t>
            </a:r>
            <a:endParaRPr sz="405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cover-subtitle"/>
          <p:cNvSpPr>
            <a:spLocks noGrp="1"/>
          </p:cNvSpPr>
          <p:nvPr/>
        </p:nvSpPr>
        <p:spPr>
          <a:xfrm>
            <a:off x="609600" y="3524250"/>
            <a:ext cx="342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38100" rIns="0" bIns="38100" anchor="ctr"/>
          <a:lstStyle/>
          <a:p>
            <a:pPr algn="l">
              <a:defRPr sz="1875" b="1">
                <a:solidFill>
                  <a:srgbClr val="f8eaf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8eaf1"/>
                </a:solidFill>
                <a:latin typeface="Noto Sans KR"/>
                <a:ea typeface="Noto Sans KR"/>
                <a:cs typeface="Noto Sans KR"/>
              </a:rPr>
              <a:t>선택과 실력으로</a:t>
            </a:r>
            <a:endParaRPr sz="1875" b="1">
              <a:solidFill>
                <a:srgbClr val="f8eaf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875" b="1">
                <a:solidFill>
                  <a:srgbClr val="f8eaf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8eaf1"/>
                </a:solidFill>
                <a:latin typeface="Noto Sans KR"/>
                <a:ea typeface="Noto Sans KR"/>
                <a:cs typeface="Noto Sans KR"/>
              </a:rPr>
              <a:t>반복되는 봄을 끝내는 학원 로맨스</a:t>
            </a:r>
            <a:endParaRPr sz="1875" b="1">
              <a:solidFill>
                <a:srgbClr val="f8eaf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609600" y="49530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C++20  ·  WinAPI  ·  2D Game</a:t>
            </a:r>
            <a:endParaRPr sz="1200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609600" y="61912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PROJECT INTRODUCTION</a:t>
            </a:r>
            <a:endParaRPr sz="825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kicker-marker"/>
          <p:cNvSpPr>
            <a:spLocks noGrp="1"/>
          </p:cNvSpPr>
          <p:nvPr/>
        </p:nvSpPr>
        <p:spPr>
          <a:xfrm>
            <a:off x="571500" y="400050"/>
            <a:ext cx="76200" cy="76200"/>
          </a:xfrm>
          <a:prstGeom prst="ellipse">
            <a:avLst/>
          </a:prstGeom>
          <a:solidFill>
            <a:srgbClr val="f062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kicker-label"/>
          <p:cNvSpPr>
            <a:spLocks noGrp="1"/>
          </p:cNvSpPr>
          <p:nvPr/>
        </p:nvSpPr>
        <p:spPr>
          <a:xfrm>
            <a:off x="742950" y="3333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062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629b"/>
                </a:solidFill>
                <a:latin typeface="Noto Sans KR"/>
                <a:ea typeface="Noto Sans KR"/>
                <a:cs typeface="Noto Sans KR"/>
              </a:rPr>
              <a:t>GAME OVERVIEW</a:t>
            </a:r>
            <a:endParaRPr sz="1050" b="1">
              <a:solidFill>
                <a:srgbClr val="f062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claim-title"/>
          <p:cNvSpPr>
            <a:spLocks noGrp="1"/>
          </p:cNvSpPr>
          <p:nvPr/>
        </p:nvSpPr>
        <p:spPr>
          <a:xfrm>
            <a:off x="571500" y="590550"/>
            <a:ext cx="1104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스토리와 미니게임이 하나의 엔딩을 만든다</a:t>
            </a:r>
            <a:endParaRPr sz="3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1047750" y="1676400"/>
            <a:ext cx="9906000" cy="28575"/>
          </a:xfrm>
          <a:prstGeom prst="rect">
            <a:avLst/>
          </a:prstGeom>
          <a:solidFill>
            <a:srgbClr val="5c66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flow-node-1"/>
          <p:cNvSpPr>
            <a:spLocks noGrp="1"/>
          </p:cNvSpPr>
          <p:nvPr/>
        </p:nvSpPr>
        <p:spPr>
          <a:xfrm>
            <a:off x="723900" y="1457325"/>
            <a:ext cx="514350" cy="514350"/>
          </a:xfrm>
          <a:prstGeom prst="ellipse">
            <a:avLst/>
          </a:prstGeom>
          <a:solidFill>
            <a:srgbClr val="171d42"/>
          </a:solidFill>
          <a:ln w="19050">
            <a:solidFill>
              <a:srgbClr val="69749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flow-number-1"/>
          <p:cNvSpPr>
            <a:spLocks noGrp="1"/>
          </p:cNvSpPr>
          <p:nvPr/>
        </p:nvSpPr>
        <p:spPr>
          <a:xfrm>
            <a:off x="723900" y="1457325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285750" y="20383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STORY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285750" y="23050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대사와 분기</a:t>
            </a:r>
            <a:endParaRPr sz="975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flow-node-2"/>
          <p:cNvSpPr>
            <a:spLocks noGrp="1"/>
          </p:cNvSpPr>
          <p:nvPr/>
        </p:nvSpPr>
        <p:spPr>
          <a:xfrm>
            <a:off x="2952750" y="1457325"/>
            <a:ext cx="514350" cy="514350"/>
          </a:xfrm>
          <a:prstGeom prst="ellipse">
            <a:avLst/>
          </a:prstGeom>
          <a:solidFill>
            <a:srgbClr val="171d42"/>
          </a:solidFill>
          <a:ln w="19050">
            <a:solidFill>
              <a:srgbClr val="69749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flow-number-2"/>
          <p:cNvSpPr>
            <a:spLocks noGrp="1"/>
          </p:cNvSpPr>
          <p:nvPr/>
        </p:nvSpPr>
        <p:spPr>
          <a:xfrm>
            <a:off x="2952750" y="1457325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2514600" y="20383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MINI GAME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2514600" y="23050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4종 플레이</a:t>
            </a:r>
            <a:endParaRPr sz="975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flow-node-3"/>
          <p:cNvSpPr>
            <a:spLocks noGrp="1"/>
          </p:cNvSpPr>
          <p:nvPr/>
        </p:nvSpPr>
        <p:spPr>
          <a:xfrm>
            <a:off x="5181600" y="1457325"/>
            <a:ext cx="514350" cy="514350"/>
          </a:xfrm>
          <a:prstGeom prst="ellipse">
            <a:avLst/>
          </a:prstGeom>
          <a:solidFill>
            <a:srgbClr val="171d42"/>
          </a:solidFill>
          <a:ln w="19050">
            <a:solidFill>
              <a:srgbClr val="69749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flow-number-3"/>
          <p:cNvSpPr>
            <a:spLocks noGrp="1"/>
          </p:cNvSpPr>
          <p:nvPr/>
        </p:nvSpPr>
        <p:spPr>
          <a:xfrm>
            <a:off x="5181600" y="1457325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743450" y="20383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RESULT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4743450" y="23050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점수와 등급</a:t>
            </a:r>
            <a:endParaRPr sz="975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flow-node-4"/>
          <p:cNvSpPr>
            <a:spLocks noGrp="1"/>
          </p:cNvSpPr>
          <p:nvPr/>
        </p:nvSpPr>
        <p:spPr>
          <a:xfrm>
            <a:off x="7410450" y="1457325"/>
            <a:ext cx="514350" cy="514350"/>
          </a:xfrm>
          <a:prstGeom prst="ellipse">
            <a:avLst/>
          </a:prstGeom>
          <a:solidFill>
            <a:srgbClr val="171d42"/>
          </a:solidFill>
          <a:ln w="19050">
            <a:solidFill>
              <a:srgbClr val="69749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flow-number-4"/>
          <p:cNvSpPr>
            <a:spLocks noGrp="1"/>
          </p:cNvSpPr>
          <p:nvPr/>
        </p:nvSpPr>
        <p:spPr>
          <a:xfrm>
            <a:off x="7410450" y="1457325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6972300" y="20383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CHOICE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972300" y="23050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히로인 선택</a:t>
            </a:r>
            <a:endParaRPr sz="975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flow-node-5"/>
          <p:cNvSpPr>
            <a:spLocks noGrp="1"/>
          </p:cNvSpPr>
          <p:nvPr/>
        </p:nvSpPr>
        <p:spPr>
          <a:xfrm>
            <a:off x="9639300" y="1457325"/>
            <a:ext cx="514350" cy="514350"/>
          </a:xfrm>
          <a:prstGeom prst="ellipse">
            <a:avLst/>
          </a:prstGeom>
          <a:solidFill>
            <a:srgbClr val="f0629b"/>
          </a:solidFill>
          <a:ln w="19050">
            <a:solidFill>
              <a:srgbClr val="ffb7c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flow-number-5"/>
          <p:cNvSpPr>
            <a:spLocks noGrp="1"/>
          </p:cNvSpPr>
          <p:nvPr/>
        </p:nvSpPr>
        <p:spPr>
          <a:xfrm>
            <a:off x="9639300" y="1457325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9201150" y="2038350"/>
            <a:ext cx="139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ENDING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9201150" y="23050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7개 결말</a:t>
            </a:r>
            <a:endParaRPr sz="975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9696450" y="25908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b7c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b7cf"/>
                </a:solidFill>
                <a:latin typeface="Noto Sans KR"/>
                <a:ea typeface="Noto Sans KR"/>
                <a:cs typeface="Noto Sans KR"/>
              </a:rPr>
              <a:t>× 4 ROUNDS</a:t>
            </a:r>
            <a:endParaRPr sz="975" b="1">
              <a:solidFill>
                <a:srgbClr val="ffb7c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overview-copy-panel"/>
          <p:cNvSpPr>
            <a:spLocks noGrp="1"/>
          </p:cNvSpPr>
          <p:nvPr/>
        </p:nvSpPr>
        <p:spPr>
          <a:xfrm>
            <a:off x="571500" y="3143250"/>
            <a:ext cx="4953000" cy="2857500"/>
          </a:xfrm>
          <a:prstGeom prst="rect">
            <a:avLst/>
          </a:prstGeom>
          <a:solidFill>
            <a:srgbClr val="171d42"/>
          </a:solidFill>
          <a:ln w="9525">
            <a:solidFill>
              <a:srgbClr val="3a426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overview-genre"/>
          <p:cNvSpPr>
            <a:spLocks noGrp="1"/>
          </p:cNvSpPr>
          <p:nvPr/>
        </p:nvSpPr>
        <p:spPr>
          <a:xfrm>
            <a:off x="876300" y="3476625"/>
            <a:ext cx="419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장르  |  스토리 선택형 비주얼 노벨</a:t>
            </a:r>
            <a:endParaRPr sz="15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           + 아케이드 미니게임</a:t>
            </a:r>
            <a:endParaRPr sz="15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76300" y="4171950"/>
            <a:ext cx="4191000" cy="9525"/>
          </a:xfrm>
          <a:prstGeom prst="rect">
            <a:avLst/>
          </a:prstGeom>
          <a:solidFill>
            <a:srgbClr val="414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overview-stack"/>
          <p:cNvSpPr>
            <a:spLocks noGrp="1"/>
          </p:cNvSpPr>
          <p:nvPr/>
        </p:nvSpPr>
        <p:spPr>
          <a:xfrm>
            <a:off x="876300" y="4362450"/>
            <a:ext cx="419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개발  |  C++20 · WinAPI · GDI/GDI+ · MCI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876300" y="4905375"/>
            <a:ext cx="4191000" cy="9525"/>
          </a:xfrm>
          <a:prstGeom prst="rect">
            <a:avLst/>
          </a:prstGeom>
          <a:solidFill>
            <a:srgbClr val="414a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overview-goal"/>
          <p:cNvSpPr>
            <a:spLocks noGrp="1"/>
          </p:cNvSpPr>
          <p:nvPr/>
        </p:nvSpPr>
        <p:spPr>
          <a:xfrm>
            <a:off x="876300" y="5105400"/>
            <a:ext cx="4191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4회의 선택과 미니게임으로 스탯을 쌓아</a:t>
            </a:r>
            <a:endParaRPr sz="1500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0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반복되는 봄을 끝내는 것이 목표입니다.</a:t>
            </a:r>
            <a:endParaRPr sz="1500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21329" y="3076575"/>
            <a:ext cx="1511467" cy="3190875"/>
          </a:xfrm>
          <a:prstGeom prst="rect">
            <a:avLst/>
          </a:prstGeom>
        </p:spPr>
      </p:pic>
      <p:pic>
        <p:nvPicPr>
          <p:cNvPr id="3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959641" y="3076575"/>
            <a:ext cx="1511467" cy="3190875"/>
          </a:xfrm>
          <a:prstGeom prst="rect">
            <a:avLst/>
          </a:prstGeom>
        </p:spPr>
      </p:pic>
      <p:pic>
        <p:nvPicPr>
          <p:cNvPr id="3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669379" y="3076575"/>
            <a:ext cx="1511467" cy="3190875"/>
          </a:xfrm>
          <a:prstGeom prst="rect">
            <a:avLst/>
          </a:prstGeom>
        </p:spPr>
      </p:pic>
      <p:sp>
        <p:nvSpPr>
          <p:cNvPr id="36" name="footer-wordmark"/>
          <p:cNvSpPr>
            <a:spLocks noGrp="1"/>
          </p:cNvSpPr>
          <p:nvPr/>
        </p:nvSpPr>
        <p:spPr>
          <a:xfrm>
            <a:off x="571500" y="65722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NO SAVE LOVE</a:t>
            </a:r>
            <a:endParaRPr sz="825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page-marker"/>
          <p:cNvSpPr>
            <a:spLocks noGrp="1"/>
          </p:cNvSpPr>
          <p:nvPr/>
        </p:nvSpPr>
        <p:spPr>
          <a:xfrm>
            <a:off x="11334750" y="6572250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825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kicker-marker"/>
          <p:cNvSpPr>
            <a:spLocks noGrp="1"/>
          </p:cNvSpPr>
          <p:nvPr/>
        </p:nvSpPr>
        <p:spPr>
          <a:xfrm>
            <a:off x="571500" y="400050"/>
            <a:ext cx="76200" cy="76200"/>
          </a:xfrm>
          <a:prstGeom prst="ellipse">
            <a:avLst/>
          </a:prstGeom>
          <a:solidFill>
            <a:srgbClr val="f062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kicker-label"/>
          <p:cNvSpPr>
            <a:spLocks noGrp="1"/>
          </p:cNvSpPr>
          <p:nvPr/>
        </p:nvSpPr>
        <p:spPr>
          <a:xfrm>
            <a:off x="742950" y="3333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062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629b"/>
                </a:solidFill>
                <a:latin typeface="Noto Sans KR"/>
                <a:ea typeface="Noto Sans KR"/>
                <a:cs typeface="Noto Sans KR"/>
              </a:rPr>
              <a:t>CORE GAMEPLAY</a:t>
            </a:r>
            <a:endParaRPr sz="1050" b="1">
              <a:solidFill>
                <a:srgbClr val="f062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claim-title"/>
          <p:cNvSpPr>
            <a:spLocks noGrp="1"/>
          </p:cNvSpPr>
          <p:nvPr/>
        </p:nvSpPr>
        <p:spPr>
          <a:xfrm>
            <a:off x="571500" y="590550"/>
            <a:ext cx="1104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000" b="1">
                <a:solidFill>
                  <a:srgbClr val="22263a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22263a"/>
                </a:solidFill>
                <a:latin typeface="Noto Sans KR"/>
                <a:ea typeface="Noto Sans KR"/>
                <a:cs typeface="Noto Sans KR"/>
              </a:rPr>
              <a:t>클릭하고, 달리고, 피하며 관계를 완성한다</a:t>
            </a:r>
            <a:endParaRPr sz="3000" b="1">
              <a:solidFill>
                <a:srgbClr val="22263a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181100"/>
            <a:ext cx="228600" cy="22860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/>
        </p:nvSpPr>
        <p:spPr>
          <a:xfrm>
            <a:off x="876300" y="1143000"/>
            <a:ext cx="49053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rPr>
              <a:t>마우스  |  대사 · 선택 · 라면 조리 · 리듬 판정</a:t>
            </a:r>
            <a:endParaRPr sz="1275" b="1">
              <a:solidFill>
                <a:srgbClr val="666b82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86500" y="1181100"/>
            <a:ext cx="247650" cy="228600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/>
        </p:nvSpPr>
        <p:spPr>
          <a:xfrm>
            <a:off x="6629400" y="11430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rPr>
              <a:t>키보드  |  점프 · 슬라이드 · 좌우 이동</a:t>
            </a:r>
            <a:endParaRPr sz="1275" b="1">
              <a:solidFill>
                <a:srgbClr val="666b82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5"/>
          <a:srcRect t="21410" b="21410"/>
          <a:stretch>
            <a:fillRect/>
          </a:stretch>
        </p:blipFill>
        <p:spPr>
          <a:xfrm>
            <a:off x="571500" y="1619250"/>
            <a:ext cx="5334000" cy="1657350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/>
        </p:nvSpPr>
        <p:spPr>
          <a:xfrm>
            <a:off x="571500" y="1619250"/>
            <a:ext cx="533400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7b9c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gameplay-ramen-label"/>
          <p:cNvSpPr>
            <a:spLocks noGrp="1"/>
          </p:cNvSpPr>
          <p:nvPr/>
        </p:nvSpPr>
        <p:spPr>
          <a:xfrm>
            <a:off x="571500" y="3276600"/>
            <a:ext cx="5334000" cy="32385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52400" tIns="28575" rIns="95250" bIns="28575" anchor="ctr"/>
          <a:lstStyle/>
          <a:p>
            <a:pPr algn="l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PC방 라면 · 재료 조합과 빠른 배달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6"/>
          <a:srcRect t="22360" b="22360"/>
          <a:stretch>
            <a:fillRect/>
          </a:stretch>
        </p:blipFill>
        <p:spPr>
          <a:xfrm>
            <a:off x="6286500" y="1619250"/>
            <a:ext cx="5334000" cy="1657350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/>
        </p:nvSpPr>
        <p:spPr>
          <a:xfrm>
            <a:off x="6286500" y="1619250"/>
            <a:ext cx="533400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7b9c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gameplay-rhythm-label"/>
          <p:cNvSpPr>
            <a:spLocks noGrp="1"/>
          </p:cNvSpPr>
          <p:nvPr/>
        </p:nvSpPr>
        <p:spPr>
          <a:xfrm>
            <a:off x="6286500" y="3276600"/>
            <a:ext cx="5334000" cy="32385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52400" tIns="28575" rIns="95250" bIns="28575" anchor="ctr"/>
          <a:lstStyle/>
          <a:p>
            <a:pPr algn="l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노래 연습 · 클릭과 드래그 리듬 판정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7"/>
          <a:srcRect t="21730" b="21730"/>
          <a:stretch>
            <a:fillRect/>
          </a:stretch>
        </p:blipFill>
        <p:spPr>
          <a:xfrm>
            <a:off x="571500" y="3743325"/>
            <a:ext cx="5334000" cy="165735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/>
        </p:nvSpPr>
        <p:spPr>
          <a:xfrm>
            <a:off x="571500" y="3743325"/>
            <a:ext cx="533400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7b9c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gameplay-run-label"/>
          <p:cNvSpPr>
            <a:spLocks noGrp="1"/>
          </p:cNvSpPr>
          <p:nvPr/>
        </p:nvSpPr>
        <p:spPr>
          <a:xfrm>
            <a:off x="571500" y="5400675"/>
            <a:ext cx="5334000" cy="32385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52400" tIns="28575" rIns="95250" bIns="28575" anchor="ctr"/>
          <a:lstStyle/>
          <a:p>
            <a:pPr algn="l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등교길 · 2단 점프와 슬라이드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gameplay-avoid-stage"/>
          <p:cNvSpPr>
            <a:spLocks noGrp="1"/>
          </p:cNvSpPr>
          <p:nvPr/>
        </p:nvSpPr>
        <p:spPr>
          <a:xfrm>
            <a:off x="6286500" y="3743325"/>
            <a:ext cx="5334000" cy="1657350"/>
          </a:xfrm>
          <a:prstGeom prst="rect">
            <a:avLst/>
          </a:prstGeom>
          <a:solidFill>
            <a:srgbClr val="1b1235"/>
          </a:solidFill>
          <a:ln w="9525">
            <a:solidFill>
              <a:srgbClr val="6f559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6496050" y="5105400"/>
            <a:ext cx="1714500" cy="76200"/>
          </a:xfrm>
          <a:prstGeom prst="rect">
            <a:avLst/>
          </a:prstGeom>
          <a:solidFill>
            <a:srgbClr val="7560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8610600" y="4876800"/>
            <a:ext cx="1238250" cy="76200"/>
          </a:xfrm>
          <a:prstGeom prst="rect">
            <a:avLst/>
          </a:prstGeom>
          <a:solidFill>
            <a:srgbClr val="7560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10172700" y="5124450"/>
            <a:ext cx="1143000" cy="76200"/>
          </a:xfrm>
          <a:prstGeom prst="rect">
            <a:avLst/>
          </a:prstGeom>
          <a:solidFill>
            <a:srgbClr val="75608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2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457950" y="3876675"/>
            <a:ext cx="228600" cy="228600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6743700" y="3876675"/>
            <a:ext cx="228600" cy="228600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029450" y="3876675"/>
            <a:ext cx="228600" cy="228600"/>
          </a:xfrm>
          <a:prstGeom prst="rect">
            <a:avLst/>
          </a:prstGeom>
        </p:spPr>
      </p:pic>
      <p:pic>
        <p:nvPicPr>
          <p:cNvPr id="25" name="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877050" y="4334901"/>
            <a:ext cx="609600" cy="740898"/>
          </a:xfrm>
          <a:prstGeom prst="rect">
            <a:avLst/>
          </a:prstGeom>
        </p:spPr>
      </p:pic>
      <p:pic>
        <p:nvPicPr>
          <p:cNvPr id="26" name="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286750" y="3990975"/>
            <a:ext cx="523875" cy="523875"/>
          </a:xfrm>
          <a:prstGeom prst="rect">
            <a:avLst/>
          </a:prstGeom>
        </p:spPr>
      </p:pic>
      <p:pic>
        <p:nvPicPr>
          <p:cNvPr id="27" name="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020175" y="4171950"/>
            <a:ext cx="876300" cy="876300"/>
          </a:xfrm>
          <a:prstGeom prst="rect">
            <a:avLst/>
          </a:prstGeom>
        </p:spPr>
      </p:pic>
      <p:sp>
        <p:nvSpPr>
          <p:cNvPr id="28" name="avoid-warning-zone"/>
          <p:cNvSpPr>
            <a:spLocks noGrp="1"/>
          </p:cNvSpPr>
          <p:nvPr/>
        </p:nvSpPr>
        <p:spPr>
          <a:xfrm>
            <a:off x="10382250" y="3876675"/>
            <a:ext cx="1000125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0629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382250" y="4250880"/>
            <a:ext cx="1066800" cy="642240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/>
        </p:nvSpPr>
        <p:spPr>
          <a:xfrm>
            <a:off x="6286500" y="3743325"/>
            <a:ext cx="533400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7b9c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gameplay-avoid-label"/>
          <p:cNvSpPr>
            <a:spLocks noGrp="1"/>
          </p:cNvSpPr>
          <p:nvPr/>
        </p:nvSpPr>
        <p:spPr>
          <a:xfrm>
            <a:off x="6286500" y="5400675"/>
            <a:ext cx="5334000" cy="32385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52400" tIns="28575" rIns="95250" bIns="28575" anchor="ctr"/>
          <a:lstStyle/>
          <a:p>
            <a:pPr algn="l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유혹 피하기 · 이동과 생존 회피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571500" y="5934075"/>
            <a:ext cx="3333750" cy="438150"/>
          </a:xfrm>
          <a:prstGeom prst="rect">
            <a:avLst/>
          </a:prstGeom>
          <a:solidFill>
            <a:srgbClr val="0d1433"/>
          </a:solidFill>
          <a:ln w="9525">
            <a:solidFill>
              <a:srgbClr val="ffffff">
                <a:alpha val="1333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서로 다른 조작</a:t>
            </a:r>
            <a:endParaRPr sz="12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4429125" y="5934075"/>
            <a:ext cx="3333750" cy="438150"/>
          </a:xfrm>
          <a:prstGeom prst="rect">
            <a:avLst/>
          </a:prstGeom>
          <a:solidFill>
            <a:srgbClr val="f0629b"/>
          </a:solidFill>
          <a:ln w="9525">
            <a:solidFill>
              <a:srgbClr val="ffffff">
                <a:alpha val="1333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점수 → 4개 스탯</a:t>
            </a:r>
            <a:endParaRPr sz="12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8286750" y="5934075"/>
            <a:ext cx="3333750" cy="438150"/>
          </a:xfrm>
          <a:prstGeom prst="rect">
            <a:avLst/>
          </a:prstGeom>
          <a:solidFill>
            <a:srgbClr val="9a78ff"/>
          </a:solidFill>
          <a:ln w="9525">
            <a:solidFill>
              <a:srgbClr val="ffffff">
                <a:alpha val="13330"/>
              </a:srgbClr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등급과 즉각적인 피드백</a:t>
            </a:r>
            <a:endParaRPr sz="12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footer-wordmark"/>
          <p:cNvSpPr>
            <a:spLocks noGrp="1"/>
          </p:cNvSpPr>
          <p:nvPr/>
        </p:nvSpPr>
        <p:spPr>
          <a:xfrm>
            <a:off x="571500" y="65722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rPr>
              <a:t>NO SAVE LOVE</a:t>
            </a:r>
            <a:endParaRPr sz="825" b="1">
              <a:solidFill>
                <a:srgbClr val="666b8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page-marker"/>
          <p:cNvSpPr>
            <a:spLocks noGrp="1"/>
          </p:cNvSpPr>
          <p:nvPr/>
        </p:nvSpPr>
        <p:spPr>
          <a:xfrm>
            <a:off x="11334750" y="6572250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666b82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825" b="1">
              <a:solidFill>
                <a:srgbClr val="666b82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kicker-marker"/>
          <p:cNvSpPr>
            <a:spLocks noGrp="1"/>
          </p:cNvSpPr>
          <p:nvPr/>
        </p:nvSpPr>
        <p:spPr>
          <a:xfrm>
            <a:off x="571500" y="400050"/>
            <a:ext cx="76200" cy="76200"/>
          </a:xfrm>
          <a:prstGeom prst="ellipse">
            <a:avLst/>
          </a:prstGeom>
          <a:solidFill>
            <a:srgbClr val="f062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kicker-label"/>
          <p:cNvSpPr>
            <a:spLocks noGrp="1"/>
          </p:cNvSpPr>
          <p:nvPr/>
        </p:nvSpPr>
        <p:spPr>
          <a:xfrm>
            <a:off x="742950" y="3333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062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629b"/>
                </a:solidFill>
                <a:latin typeface="Noto Sans KR"/>
                <a:ea typeface="Noto Sans KR"/>
                <a:cs typeface="Noto Sans KR"/>
              </a:rPr>
              <a:t>KEY FEATURES</a:t>
            </a:r>
            <a:endParaRPr sz="1050" b="1">
              <a:solidFill>
                <a:srgbClr val="f062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claim-title"/>
          <p:cNvSpPr>
            <a:spLocks noGrp="1"/>
          </p:cNvSpPr>
          <p:nvPr/>
        </p:nvSpPr>
        <p:spPr>
          <a:xfrm>
            <a:off x="571500" y="590550"/>
            <a:ext cx="1104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 기록과 4개 스탯이 7개의 결말을 가른다</a:t>
            </a:r>
            <a:endParaRPr sz="3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rcRect l="5870" r="5870"/>
          <a:stretch>
            <a:fillRect/>
          </a:stretch>
        </p:blipFill>
        <p:spPr>
          <a:xfrm>
            <a:off x="571500" y="1381125"/>
            <a:ext cx="6572250" cy="4191000"/>
          </a:xfrm>
          <a:prstGeom prst="rect">
            <a:avLst/>
          </a:prstGeom>
        </p:spPr>
      </p:pic>
      <p:sp>
        <p:nvSpPr>
          <p:cNvPr id="6" name="choice-scene-overlay"/>
          <p:cNvSpPr>
            <a:spLocks noGrp="1"/>
          </p:cNvSpPr>
          <p:nvPr/>
        </p:nvSpPr>
        <p:spPr>
          <a:xfrm>
            <a:off x="571500" y="1381125"/>
            <a:ext cx="6572250" cy="4191000"/>
          </a:xfrm>
          <a:prstGeom prst="rect">
            <a:avLst/>
          </a:prstGeom>
          <a:solidFill>
            <a:srgbClr val="0d1433">
              <a:alpha val="26670"/>
            </a:srgbClr>
          </a:solidFill>
          <a:ln w="19050">
            <a:solidFill>
              <a:srgbClr val="58638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53014" y="1714500"/>
            <a:ext cx="1646822" cy="3476625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903872" y="1666875"/>
            <a:ext cx="1669382" cy="3524250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986839" y="1695450"/>
            <a:ext cx="1646822" cy="3476625"/>
          </a:xfrm>
          <a:prstGeom prst="rect">
            <a:avLst/>
          </a:prstGeom>
        </p:spPr>
      </p:pic>
      <p:sp>
        <p:nvSpPr>
          <p:cNvPr id="10" name="map-character-caption"/>
          <p:cNvSpPr>
            <a:spLocks noGrp="1"/>
          </p:cNvSpPr>
          <p:nvPr/>
        </p:nvSpPr>
        <p:spPr>
          <a:xfrm>
            <a:off x="819150" y="5295900"/>
            <a:ext cx="6191250" cy="342900"/>
          </a:xfrm>
          <a:prstGeom prst="rect">
            <a:avLst/>
          </a:prstGeom>
          <a:solidFill>
            <a:srgbClr val="171d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학생회실 · 교실 · 도서관   |   한세아 · 유하린 · 서이린</a:t>
            </a:r>
            <a:endParaRPr sz="12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7524750" y="1400175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b7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b7cf"/>
                </a:solidFill>
                <a:latin typeface="Noto Sans KR"/>
                <a:ea typeface="Noto Sans KR"/>
                <a:cs typeface="Noto Sans KR"/>
              </a:rPr>
              <a:t>CHOICE + STATUS</a:t>
            </a:r>
            <a:endParaRPr sz="1275" b="1">
              <a:solidFill>
                <a:srgbClr val="ffb7c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interaction-summary"/>
          <p:cNvSpPr>
            <a:spLocks noGrp="1"/>
          </p:cNvSpPr>
          <p:nvPr/>
        </p:nvSpPr>
        <p:spPr>
          <a:xfrm>
            <a:off x="7524750" y="1743075"/>
            <a:ext cx="400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대사와 선택, 미니게임 점수가</a:t>
            </a:r>
            <a:endParaRPr sz="15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하나의 결과 시스템으로 연결됩니다.</a:t>
            </a:r>
            <a:endParaRPr sz="157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7524750" y="2533650"/>
            <a:ext cx="838200" cy="457200"/>
          </a:xfrm>
          <a:prstGeom prst="rect">
            <a:avLst/>
          </a:prstGeom>
          <a:solidFill>
            <a:srgbClr val="171d42"/>
          </a:solidFill>
          <a:ln w="9525">
            <a:solidFill>
              <a:srgbClr val="59658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7524750" y="2533650"/>
            <a:ext cx="838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재력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8524875" y="2533650"/>
            <a:ext cx="838200" cy="457200"/>
          </a:xfrm>
          <a:prstGeom prst="rect">
            <a:avLst/>
          </a:prstGeom>
          <a:solidFill>
            <a:srgbClr val="232a56"/>
          </a:solidFill>
          <a:ln w="9525">
            <a:solidFill>
              <a:srgbClr val="59658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8524875" y="2533650"/>
            <a:ext cx="838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대화 스킬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9525000" y="2533650"/>
            <a:ext cx="838200" cy="457200"/>
          </a:xfrm>
          <a:prstGeom prst="rect">
            <a:avLst/>
          </a:prstGeom>
          <a:solidFill>
            <a:srgbClr val="171d42"/>
          </a:solidFill>
          <a:ln w="9525">
            <a:solidFill>
              <a:srgbClr val="59658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9525000" y="2533650"/>
            <a:ext cx="838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매력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10525125" y="2533650"/>
            <a:ext cx="838200" cy="457200"/>
          </a:xfrm>
          <a:prstGeom prst="rect">
            <a:avLst/>
          </a:prstGeom>
          <a:solidFill>
            <a:srgbClr val="232a56"/>
          </a:solidFill>
          <a:ln w="9525">
            <a:solidFill>
              <a:srgbClr val="59658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10525125" y="2533650"/>
            <a:ext cx="838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외모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7762875" y="3333750"/>
            <a:ext cx="3429000" cy="28575"/>
          </a:xfrm>
          <a:prstGeom prst="rect">
            <a:avLst/>
          </a:prstGeom>
          <a:solidFill>
            <a:srgbClr val="6974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9239250" y="3162300"/>
            <a:ext cx="495300" cy="381000"/>
          </a:xfrm>
          <a:prstGeom prst="ellipse">
            <a:avLst/>
          </a:prstGeom>
          <a:solidFill>
            <a:srgbClr val="f0629b"/>
          </a:solidFill>
          <a:ln w="19050">
            <a:solidFill>
              <a:srgbClr val="ffb7c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9239250" y="3162300"/>
            <a:ext cx="495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</a:t>
            </a:r>
            <a:endParaRPr sz="105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ending-happy"/>
          <p:cNvSpPr>
            <a:spLocks noGrp="1"/>
          </p:cNvSpPr>
          <p:nvPr/>
        </p:nvSpPr>
        <p:spPr>
          <a:xfrm>
            <a:off x="7524750" y="3848100"/>
            <a:ext cx="1219200" cy="666750"/>
          </a:xfrm>
          <a:prstGeom prst="rect">
            <a:avLst/>
          </a:prstGeom>
          <a:solidFill>
            <a:srgbClr val="a64a72"/>
          </a:solidFill>
          <a:ln w="9525">
            <a:solidFill>
              <a:srgbClr val="ffffff">
                <a:alpha val="1333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7696200" y="39338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HAPPY ×3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7696200" y="420052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핵심 스탯 충족</a:t>
            </a:r>
            <a:endParaRPr sz="975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ending-bad"/>
          <p:cNvSpPr>
            <a:spLocks noGrp="1"/>
          </p:cNvSpPr>
          <p:nvPr/>
        </p:nvSpPr>
        <p:spPr>
          <a:xfrm>
            <a:off x="8858250" y="3848100"/>
            <a:ext cx="1219200" cy="666750"/>
          </a:xfrm>
          <a:prstGeom prst="rect">
            <a:avLst/>
          </a:prstGeom>
          <a:solidFill>
            <a:srgbClr val="4d577d"/>
          </a:solidFill>
          <a:ln w="9525">
            <a:solidFill>
              <a:srgbClr val="ffffff">
                <a:alpha val="1333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9029700" y="39338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BAD ×3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9029700" y="420052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조건 미달</a:t>
            </a:r>
            <a:endParaRPr sz="975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ending-hidden"/>
          <p:cNvSpPr>
            <a:spLocks noGrp="1"/>
          </p:cNvSpPr>
          <p:nvPr/>
        </p:nvSpPr>
        <p:spPr>
          <a:xfrm>
            <a:off x="10191750" y="3848100"/>
            <a:ext cx="1333500" cy="666750"/>
          </a:xfrm>
          <a:prstGeom prst="rect">
            <a:avLst/>
          </a:prstGeom>
          <a:solidFill>
            <a:srgbClr val="6d4aaa"/>
          </a:solidFill>
          <a:ln w="9525">
            <a:solidFill>
              <a:srgbClr val="ffffff">
                <a:alpha val="1333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10363200" y="3933825"/>
            <a:ext cx="990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HIDDEN ×1</a:t>
            </a:r>
            <a:endParaRPr sz="11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10363200" y="4200525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총합 80 이하</a:t>
            </a:r>
            <a:endParaRPr sz="975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differentiation-summary"/>
          <p:cNvSpPr>
            <a:spLocks noGrp="1"/>
          </p:cNvSpPr>
          <p:nvPr/>
        </p:nvSpPr>
        <p:spPr>
          <a:xfrm>
            <a:off x="7524750" y="4857750"/>
            <a:ext cx="4000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최다 선택 히로인과 캐릭터별 핵심 스탯을 함께 평가해,</a:t>
            </a:r>
            <a:endParaRPr sz="1350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35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e7e9f5"/>
                </a:solidFill>
                <a:latin typeface="Noto Sans KR"/>
                <a:ea typeface="Noto Sans KR"/>
                <a:cs typeface="Noto Sans KR"/>
              </a:rPr>
              <a:t>같은 선택도 플레이 성적에 따라 다른 결말로 이어집니다.</a:t>
            </a:r>
            <a:endParaRPr sz="1350" b="0">
              <a:solidFill>
                <a:srgbClr val="e7e9f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implementation-note"/>
          <p:cNvSpPr>
            <a:spLocks noGrp="1"/>
          </p:cNvSpPr>
          <p:nvPr/>
        </p:nvSpPr>
        <p:spPr>
          <a:xfrm>
            <a:off x="571500" y="5953125"/>
            <a:ext cx="10953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실제 게임 화면과 캐릭터 리소스를 WinAPI 장면 전환·입력·상태 관리로 직접 연결했습니다.</a:t>
            </a:r>
            <a:endParaRPr sz="1350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footer-wordmark"/>
          <p:cNvSpPr>
            <a:spLocks noGrp="1"/>
          </p:cNvSpPr>
          <p:nvPr/>
        </p:nvSpPr>
        <p:spPr>
          <a:xfrm>
            <a:off x="571500" y="65722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NO SAVE LOVE</a:t>
            </a:r>
            <a:endParaRPr sz="825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page-marker"/>
          <p:cNvSpPr>
            <a:spLocks noGrp="1"/>
          </p:cNvSpPr>
          <p:nvPr/>
        </p:nvSpPr>
        <p:spPr>
          <a:xfrm>
            <a:off x="11334750" y="6572250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825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rcRect l="17950" r="17950"/>
          <a:stretch>
            <a:fillRect/>
          </a:stretch>
        </p:blipFill>
        <p:spPr>
          <a:xfrm>
            <a:off x="4381500" y="0"/>
            <a:ext cx="7810500" cy="6858000"/>
          </a:xfrm>
          <a:prstGeom prst="rect">
            <a:avLst/>
          </a:prstGeom>
        </p:spPr>
      </p:pic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0d14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4429125" y="0"/>
            <a:ext cx="47625" cy="6858000"/>
          </a:xfrm>
          <a:prstGeom prst="rect">
            <a:avLst/>
          </a:prstGeom>
          <a:solidFill>
            <a:srgbClr val="f062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590550" y="5143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b7c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b7cf"/>
                </a:solidFill>
                <a:latin typeface="Noto Sans KR"/>
                <a:ea typeface="Noto Sans KR"/>
                <a:cs typeface="Noto Sans KR"/>
              </a:rPr>
              <a:t>PROJECT RESULT</a:t>
            </a:r>
            <a:endParaRPr sz="1050" b="1">
              <a:solidFill>
                <a:srgbClr val="ffb7c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closing-claim"/>
          <p:cNvSpPr>
            <a:spLocks noGrp="1"/>
          </p:cNvSpPr>
          <p:nvPr/>
        </p:nvSpPr>
        <p:spPr>
          <a:xfrm>
            <a:off x="590550" y="838200"/>
            <a:ext cx="33337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WinAPI만으로</a:t>
            </a:r>
            <a:endParaRPr sz="27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완결된 플레이 루프를 구현했습니다.</a:t>
            </a:r>
            <a:endParaRPr sz="27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closing-result"/>
          <p:cNvSpPr>
            <a:spLocks noGrp="1"/>
          </p:cNvSpPr>
          <p:nvPr/>
        </p:nvSpPr>
        <p:spPr>
          <a:xfrm>
            <a:off x="590550" y="2247900"/>
            <a:ext cx="32861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f3e9e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3e9ef"/>
                </a:solidFill>
                <a:latin typeface="Noto Sans KR"/>
                <a:ea typeface="Noto Sans KR"/>
                <a:cs typeface="Noto Sans KR"/>
              </a:rPr>
              <a:t>4종 미니게임 · 7개 엔딩을</a:t>
            </a:r>
            <a:endParaRPr sz="1575" b="1">
              <a:solidFill>
                <a:srgbClr val="f3e9e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75" b="1">
                <a:solidFill>
                  <a:srgbClr val="f3e9e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3e9ef"/>
                </a:solidFill>
                <a:latin typeface="Noto Sans KR"/>
                <a:ea typeface="Noto Sans KR"/>
                <a:cs typeface="Noto Sans KR"/>
              </a:rPr>
              <a:t>하나의 실행 흐름으로 통합했습니다.</a:t>
            </a:r>
            <a:endParaRPr sz="1575" b="1">
              <a:solidFill>
                <a:srgbClr val="f3e9e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90550" y="3238500"/>
            <a:ext cx="3143250" cy="19050"/>
          </a:xfrm>
          <a:prstGeom prst="rect">
            <a:avLst/>
          </a:prstGeom>
          <a:solidFill>
            <a:srgbClr val="5965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closing-learning"/>
          <p:cNvSpPr>
            <a:spLocks noGrp="1"/>
          </p:cNvSpPr>
          <p:nvPr/>
        </p:nvSpPr>
        <p:spPr>
          <a:xfrm>
            <a:off x="590550" y="3524250"/>
            <a:ext cx="3286125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메시지 기반 입력, 더블 버퍼링,</a:t>
            </a:r>
            <a:endParaRPr sz="1500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상태 관리와 사운드 동기화를 직접 구현하며</a:t>
            </a:r>
            <a:endParaRPr sz="1500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15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게임 루프의 구조를 배웠습니다.</a:t>
            </a:r>
            <a:endParaRPr sz="1500" b="0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thank-you"/>
          <p:cNvSpPr>
            <a:spLocks noGrp="1"/>
          </p:cNvSpPr>
          <p:nvPr/>
        </p:nvSpPr>
        <p:spPr>
          <a:xfrm>
            <a:off x="590550" y="5191125"/>
            <a:ext cx="3333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750" b="1">
                <a:solidFill>
                  <a:srgbClr val="ffb7cf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fb7cf"/>
                </a:solidFill>
                <a:latin typeface="Noto Sans KR"/>
                <a:ea typeface="Noto Sans KR"/>
                <a:cs typeface="Noto Sans KR"/>
              </a:rPr>
              <a:t>감사합니다</a:t>
            </a:r>
            <a:endParaRPr sz="3750" b="1">
              <a:solidFill>
                <a:srgbClr val="ffb7c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590550" y="6048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ab3d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aab3d0"/>
                </a:solidFill>
                <a:latin typeface="Noto Sans KR"/>
                <a:ea typeface="Noto Sans KR"/>
                <a:cs typeface="Noto Sans KR"/>
              </a:rPr>
              <a:t>NO SAVE LOVE</a:t>
            </a:r>
            <a:endParaRPr sz="900" b="1">
              <a:solidFill>
                <a:srgbClr val="aab3d0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Converted Presentation</ep:PresentationFormat>
  <ep:Paragraphs>0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ChatGPT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saenu</cp:lastModifiedBy>
  <dcterms:modified xsi:type="dcterms:W3CDTF">2026-06-13T15:30:27.766</dcterms:modified>
  <cp:revision>2</cp:revision>
  <cp:version>1000.0000.01</cp:version>
</cp:coreProperties>
</file>